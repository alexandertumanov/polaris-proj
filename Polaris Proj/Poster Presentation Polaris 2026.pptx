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43891200" cy="32918400"/>
  <p:notesSz cx="9601200" cy="7315200"/>
  <p:defaultTextStyle>
    <a:defPPr>
      <a:defRPr lang="en-US"/>
    </a:defPPr>
    <a:lvl1pPr marL="0" algn="l" defTabSz="997884" rtl="0" eaLnBrk="1" latinLnBrk="0" hangingPunct="1">
      <a:defRPr sz="4000" kern="1200">
        <a:solidFill>
          <a:schemeClr val="tx1"/>
        </a:solidFill>
        <a:latin typeface="+mn-lt"/>
        <a:ea typeface="+mn-ea"/>
        <a:cs typeface="+mn-cs"/>
      </a:defRPr>
    </a:lvl1pPr>
    <a:lvl2pPr marL="997884" algn="l" defTabSz="997884" rtl="0" eaLnBrk="1" latinLnBrk="0" hangingPunct="1">
      <a:defRPr sz="4000" kern="1200">
        <a:solidFill>
          <a:schemeClr val="tx1"/>
        </a:solidFill>
        <a:latin typeface="+mn-lt"/>
        <a:ea typeface="+mn-ea"/>
        <a:cs typeface="+mn-cs"/>
      </a:defRPr>
    </a:lvl2pPr>
    <a:lvl3pPr marL="1995770" algn="l" defTabSz="997884" rtl="0" eaLnBrk="1" latinLnBrk="0" hangingPunct="1">
      <a:defRPr sz="4000" kern="1200">
        <a:solidFill>
          <a:schemeClr val="tx1"/>
        </a:solidFill>
        <a:latin typeface="+mn-lt"/>
        <a:ea typeface="+mn-ea"/>
        <a:cs typeface="+mn-cs"/>
      </a:defRPr>
    </a:lvl3pPr>
    <a:lvl4pPr marL="2993654" algn="l" defTabSz="997884" rtl="0" eaLnBrk="1" latinLnBrk="0" hangingPunct="1">
      <a:defRPr sz="4000" kern="1200">
        <a:solidFill>
          <a:schemeClr val="tx1"/>
        </a:solidFill>
        <a:latin typeface="+mn-lt"/>
        <a:ea typeface="+mn-ea"/>
        <a:cs typeface="+mn-cs"/>
      </a:defRPr>
    </a:lvl4pPr>
    <a:lvl5pPr marL="3991538" algn="l" defTabSz="997884" rtl="0" eaLnBrk="1" latinLnBrk="0" hangingPunct="1">
      <a:defRPr sz="4000" kern="1200">
        <a:solidFill>
          <a:schemeClr val="tx1"/>
        </a:solidFill>
        <a:latin typeface="+mn-lt"/>
        <a:ea typeface="+mn-ea"/>
        <a:cs typeface="+mn-cs"/>
      </a:defRPr>
    </a:lvl5pPr>
    <a:lvl6pPr marL="4989424" algn="l" defTabSz="997884" rtl="0" eaLnBrk="1" latinLnBrk="0" hangingPunct="1">
      <a:defRPr sz="4000" kern="1200">
        <a:solidFill>
          <a:schemeClr val="tx1"/>
        </a:solidFill>
        <a:latin typeface="+mn-lt"/>
        <a:ea typeface="+mn-ea"/>
        <a:cs typeface="+mn-cs"/>
      </a:defRPr>
    </a:lvl6pPr>
    <a:lvl7pPr marL="5987308" algn="l" defTabSz="997884" rtl="0" eaLnBrk="1" latinLnBrk="0" hangingPunct="1">
      <a:defRPr sz="4000" kern="1200">
        <a:solidFill>
          <a:schemeClr val="tx1"/>
        </a:solidFill>
        <a:latin typeface="+mn-lt"/>
        <a:ea typeface="+mn-ea"/>
        <a:cs typeface="+mn-cs"/>
      </a:defRPr>
    </a:lvl7pPr>
    <a:lvl8pPr marL="6985194" algn="l" defTabSz="997884" rtl="0" eaLnBrk="1" latinLnBrk="0" hangingPunct="1">
      <a:defRPr sz="4000" kern="1200">
        <a:solidFill>
          <a:schemeClr val="tx1"/>
        </a:solidFill>
        <a:latin typeface="+mn-lt"/>
        <a:ea typeface="+mn-ea"/>
        <a:cs typeface="+mn-cs"/>
      </a:defRPr>
    </a:lvl8pPr>
    <a:lvl9pPr marL="7983078" algn="l" defTabSz="997884" rtl="0" eaLnBrk="1" latinLnBrk="0" hangingPunct="1">
      <a:defRPr sz="4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a:srgbClr val="BB0000"/>
    <a:srgbClr val="0000FF"/>
    <a:srgbClr val="777877"/>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569" autoAdjust="0"/>
  </p:normalViewPr>
  <p:slideViewPr>
    <p:cSldViewPr>
      <p:cViewPr varScale="1">
        <p:scale>
          <a:sx n="20" d="100"/>
          <a:sy n="20" d="100"/>
        </p:scale>
        <p:origin x="1090" y="53"/>
      </p:cViewPr>
      <p:guideLst>
        <p:guide orient="horz"/>
        <p:guide/>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160722" cy="365606"/>
          </a:xfrm>
          <a:prstGeom prst="rect">
            <a:avLst/>
          </a:prstGeom>
        </p:spPr>
        <p:txBody>
          <a:bodyPr vert="horz" lIns="43946" tIns="21973" rIns="43946" bIns="21973" rtlCol="0"/>
          <a:lstStyle>
            <a:lvl1pPr algn="l">
              <a:defRPr sz="600"/>
            </a:lvl1pPr>
          </a:lstStyle>
          <a:p>
            <a:endParaRPr lang="en-US"/>
          </a:p>
        </p:txBody>
      </p:sp>
      <p:sp>
        <p:nvSpPr>
          <p:cNvPr id="3" name="日期占位符 2"/>
          <p:cNvSpPr>
            <a:spLocks noGrp="1"/>
          </p:cNvSpPr>
          <p:nvPr>
            <p:ph type="dt" idx="1"/>
          </p:nvPr>
        </p:nvSpPr>
        <p:spPr>
          <a:xfrm>
            <a:off x="5438204" y="0"/>
            <a:ext cx="4160722" cy="365606"/>
          </a:xfrm>
          <a:prstGeom prst="rect">
            <a:avLst/>
          </a:prstGeom>
        </p:spPr>
        <p:txBody>
          <a:bodyPr vert="horz" lIns="43946" tIns="21973" rIns="43946" bIns="21973" rtlCol="0"/>
          <a:lstStyle>
            <a:lvl1pPr algn="r">
              <a:defRPr sz="600"/>
            </a:lvl1pPr>
          </a:lstStyle>
          <a:p>
            <a:fld id="{5B2E43A9-815C-423F-853E-349CB03B6F7B}" type="datetimeFigureOut">
              <a:rPr lang="en-US" smtClean="0"/>
              <a:t>4/12/2026</a:t>
            </a:fld>
            <a:endParaRPr lang="en-US"/>
          </a:p>
        </p:txBody>
      </p:sp>
      <p:sp>
        <p:nvSpPr>
          <p:cNvPr id="4" name="幻灯片图像占位符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43946" tIns="21973" rIns="43946" bIns="21973" rtlCol="0" anchor="ctr"/>
          <a:lstStyle/>
          <a:p>
            <a:endParaRPr lang="en-US"/>
          </a:p>
        </p:txBody>
      </p:sp>
      <p:sp>
        <p:nvSpPr>
          <p:cNvPr id="5" name="备注占位符 4"/>
          <p:cNvSpPr>
            <a:spLocks noGrp="1"/>
          </p:cNvSpPr>
          <p:nvPr>
            <p:ph type="body" sz="quarter" idx="3"/>
          </p:nvPr>
        </p:nvSpPr>
        <p:spPr>
          <a:xfrm>
            <a:off x="959817" y="3474412"/>
            <a:ext cx="7681567" cy="3291994"/>
          </a:xfrm>
          <a:prstGeom prst="rect">
            <a:avLst/>
          </a:prstGeom>
        </p:spPr>
        <p:txBody>
          <a:bodyPr vert="horz" lIns="43946" tIns="21973" rIns="43946" bIns="21973"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6948055"/>
            <a:ext cx="4160722" cy="365606"/>
          </a:xfrm>
          <a:prstGeom prst="rect">
            <a:avLst/>
          </a:prstGeom>
        </p:spPr>
        <p:txBody>
          <a:bodyPr vert="horz" lIns="43946" tIns="21973" rIns="43946" bIns="21973" rtlCol="0" anchor="b"/>
          <a:lstStyle>
            <a:lvl1pPr algn="l">
              <a:defRPr sz="600"/>
            </a:lvl1pPr>
          </a:lstStyle>
          <a:p>
            <a:endParaRPr lang="en-US"/>
          </a:p>
        </p:txBody>
      </p:sp>
      <p:sp>
        <p:nvSpPr>
          <p:cNvPr id="7" name="灯片编号占位符 6"/>
          <p:cNvSpPr>
            <a:spLocks noGrp="1"/>
          </p:cNvSpPr>
          <p:nvPr>
            <p:ph type="sldNum" sz="quarter" idx="5"/>
          </p:nvPr>
        </p:nvSpPr>
        <p:spPr>
          <a:xfrm>
            <a:off x="5438204" y="6948055"/>
            <a:ext cx="4160722" cy="365606"/>
          </a:xfrm>
          <a:prstGeom prst="rect">
            <a:avLst/>
          </a:prstGeom>
        </p:spPr>
        <p:txBody>
          <a:bodyPr vert="horz" lIns="43946" tIns="21973" rIns="43946" bIns="21973" rtlCol="0" anchor="b"/>
          <a:lstStyle>
            <a:lvl1pPr algn="r">
              <a:defRPr sz="600"/>
            </a:lvl1pPr>
          </a:lstStyle>
          <a:p>
            <a:fld id="{932B2ED5-0CC0-438C-9EAD-654C5CAE18AD}" type="slidenum">
              <a:rPr lang="en-US" smtClean="0"/>
              <a:t>‹#›</a:t>
            </a:fld>
            <a:endParaRPr lang="en-US"/>
          </a:p>
        </p:txBody>
      </p:sp>
    </p:spTree>
    <p:extLst>
      <p:ext uri="{BB962C8B-B14F-4D97-AF65-F5344CB8AC3E}">
        <p14:creationId xmlns:p14="http://schemas.microsoft.com/office/powerpoint/2010/main" val="1054717833"/>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r>
              <a:rPr lang="en-US" dirty="0"/>
              <a:t>Change:</a:t>
            </a:r>
          </a:p>
          <a:p>
            <a:pPr marL="164798" indent="-164798">
              <a:buFontTx/>
              <a:buChar char="-"/>
            </a:pPr>
            <a:r>
              <a:rPr lang="en-US" dirty="0"/>
              <a:t>Title</a:t>
            </a:r>
          </a:p>
          <a:p>
            <a:pPr marL="164798" indent="-164798">
              <a:buFontTx/>
              <a:buChar char="-"/>
            </a:pPr>
            <a:r>
              <a:rPr lang="en-US" dirty="0"/>
              <a:t>Add CEM/NSF logos</a:t>
            </a:r>
          </a:p>
          <a:p>
            <a:pPr marL="164798" indent="-164798">
              <a:buFontTx/>
              <a:buChar char="-"/>
            </a:pPr>
            <a:r>
              <a:rPr lang="en-US" dirty="0"/>
              <a:t>Authors</a:t>
            </a:r>
          </a:p>
          <a:p>
            <a:pPr marL="164798" indent="-164798">
              <a:buFontTx/>
              <a:buChar char="-"/>
            </a:pPr>
            <a:r>
              <a:rPr lang="en-US" dirty="0"/>
              <a:t>All Figures</a:t>
            </a:r>
          </a:p>
          <a:p>
            <a:pPr marL="164798" indent="-164798">
              <a:buFontTx/>
              <a:buChar char="-"/>
            </a:pPr>
            <a:r>
              <a:rPr lang="en-US" dirty="0"/>
              <a:t>Motivation</a:t>
            </a:r>
          </a:p>
          <a:p>
            <a:pPr marL="164798" indent="-164798">
              <a:buFontTx/>
              <a:buChar char="-"/>
            </a:pPr>
            <a:r>
              <a:rPr lang="en-US" dirty="0"/>
              <a:t>NZAFO Background</a:t>
            </a:r>
          </a:p>
          <a:p>
            <a:pPr marL="164798" indent="-164798">
              <a:buFontTx/>
              <a:buChar char="-"/>
            </a:pPr>
            <a:r>
              <a:rPr lang="en-US" dirty="0"/>
              <a:t>ODFMR background</a:t>
            </a:r>
          </a:p>
          <a:p>
            <a:pPr marL="164798" indent="-164798">
              <a:buFontTx/>
              <a:buChar char="-"/>
            </a:pPr>
            <a:r>
              <a:rPr lang="en-US" dirty="0"/>
              <a:t>Add </a:t>
            </a:r>
            <a:r>
              <a:rPr lang="en-US" dirty="0" err="1"/>
              <a:t>Spinwave</a:t>
            </a:r>
            <a:r>
              <a:rPr lang="en-US" dirty="0"/>
              <a:t> Instability Background</a:t>
            </a:r>
          </a:p>
          <a:p>
            <a:pPr marL="164798" indent="-164798">
              <a:buFontTx/>
              <a:buChar char="-"/>
            </a:pPr>
            <a:r>
              <a:rPr lang="en-US" dirty="0"/>
              <a:t>Fix Bibliography</a:t>
            </a:r>
          </a:p>
          <a:p>
            <a:pPr marL="164798" indent="-164798">
              <a:buFontTx/>
              <a:buChar char="-"/>
            </a:pPr>
            <a:r>
              <a:rPr lang="en-US" dirty="0"/>
              <a:t>Fix Acknowledgements</a:t>
            </a:r>
          </a:p>
          <a:p>
            <a:pPr marL="164798" indent="-164798">
              <a:buFontTx/>
              <a:buChar char="-"/>
            </a:pPr>
            <a:r>
              <a:rPr lang="en-US" dirty="0"/>
              <a:t>Fix Future Direction</a:t>
            </a:r>
          </a:p>
          <a:p>
            <a:pPr marL="164798" indent="-164798">
              <a:buFontTx/>
              <a:buChar char="-"/>
            </a:pPr>
            <a:r>
              <a:rPr lang="en-US"/>
              <a:t>Add Discussion</a:t>
            </a:r>
          </a:p>
        </p:txBody>
      </p:sp>
      <p:sp>
        <p:nvSpPr>
          <p:cNvPr id="4" name="灯片编号占位符 3"/>
          <p:cNvSpPr>
            <a:spLocks noGrp="1"/>
          </p:cNvSpPr>
          <p:nvPr>
            <p:ph type="sldNum" sz="quarter" idx="10"/>
          </p:nvPr>
        </p:nvSpPr>
        <p:spPr/>
        <p:txBody>
          <a:bodyPr/>
          <a:lstStyle/>
          <a:p>
            <a:fld id="{932B2ED5-0CC0-438C-9EAD-654C5CAE18AD}" type="slidenum">
              <a:rPr lang="en-US" smtClean="0"/>
              <a:t>1</a:t>
            </a:fld>
            <a:endParaRPr lang="en-US"/>
          </a:p>
        </p:txBody>
      </p:sp>
    </p:spTree>
    <p:extLst>
      <p:ext uri="{BB962C8B-B14F-4D97-AF65-F5344CB8AC3E}">
        <p14:creationId xmlns:p14="http://schemas.microsoft.com/office/powerpoint/2010/main" val="824893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91841" y="10204705"/>
            <a:ext cx="37307522" cy="94641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583680" y="18434305"/>
            <a:ext cx="307238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sz="half" idx="2"/>
          </p:nvPr>
        </p:nvSpPr>
        <p:spPr>
          <a:xfrm>
            <a:off x="2194561" y="7571233"/>
            <a:ext cx="1909267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2603967" y="7571233"/>
            <a:ext cx="1909267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946413"/>
          </a:xfrm>
          <a:prstGeom prst="rect">
            <a:avLst/>
          </a:prstGeom>
        </p:spPr>
        <p:txBody>
          <a:bodyPr wrap="square" lIns="0" tIns="0" rIns="0" bIns="0">
            <a:spAutoFit/>
          </a:bodyPr>
          <a:lstStyle>
            <a:lvl1pPr>
              <a:defRPr sz="6150" b="1">
                <a:solidFill>
                  <a:srgbClr val="414042"/>
                </a:solidFill>
                <a:latin typeface="Arial"/>
                <a:cs typeface="Arial"/>
              </a:defRPr>
            </a:lvl1pPr>
          </a:lstStyle>
          <a:p>
            <a:endParaRPr/>
          </a:p>
        </p:txBody>
      </p:sp>
      <p:sp>
        <p:nvSpPr>
          <p:cNvPr id="3" name="Holder 3"/>
          <p:cNvSpPr>
            <a:spLocks noGrp="1"/>
          </p:cNvSpPr>
          <p:nvPr>
            <p:ph type="body" idx="1"/>
          </p:nvPr>
        </p:nvSpPr>
        <p:spPr>
          <a:xfrm>
            <a:off x="2194560" y="7571233"/>
            <a:ext cx="395020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923008" y="30614113"/>
            <a:ext cx="14045184" cy="615554"/>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2194562" y="30614113"/>
            <a:ext cx="10094976" cy="615554"/>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4/12/2026</a:t>
            </a:fld>
            <a:endParaRPr lang="en-US" dirty="0"/>
          </a:p>
        </p:txBody>
      </p:sp>
      <p:sp>
        <p:nvSpPr>
          <p:cNvPr id="6" name="Holder 6"/>
          <p:cNvSpPr>
            <a:spLocks noGrp="1"/>
          </p:cNvSpPr>
          <p:nvPr>
            <p:ph type="sldNum" sz="quarter" idx="7"/>
          </p:nvPr>
        </p:nvSpPr>
        <p:spPr>
          <a:xfrm>
            <a:off x="31601668" y="30614113"/>
            <a:ext cx="10094976" cy="615554"/>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997884">
        <a:defRPr>
          <a:latin typeface="+mn-lt"/>
          <a:ea typeface="+mn-ea"/>
          <a:cs typeface="+mn-cs"/>
        </a:defRPr>
      </a:lvl2pPr>
      <a:lvl3pPr marL="1995770">
        <a:defRPr>
          <a:latin typeface="+mn-lt"/>
          <a:ea typeface="+mn-ea"/>
          <a:cs typeface="+mn-cs"/>
        </a:defRPr>
      </a:lvl3pPr>
      <a:lvl4pPr marL="2993654">
        <a:defRPr>
          <a:latin typeface="+mn-lt"/>
          <a:ea typeface="+mn-ea"/>
          <a:cs typeface="+mn-cs"/>
        </a:defRPr>
      </a:lvl4pPr>
      <a:lvl5pPr marL="3991538">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4">
        <a:defRPr>
          <a:latin typeface="+mn-lt"/>
          <a:ea typeface="+mn-ea"/>
          <a:cs typeface="+mn-cs"/>
        </a:defRPr>
      </a:lvl8pPr>
      <a:lvl9pPr marL="7983078">
        <a:defRPr>
          <a:latin typeface="+mn-lt"/>
          <a:ea typeface="+mn-ea"/>
          <a:cs typeface="+mn-cs"/>
        </a:defRPr>
      </a:lvl9pPr>
    </p:bodyStyle>
    <p:otherStyle>
      <a:lvl1pPr marL="0">
        <a:defRPr>
          <a:latin typeface="+mn-lt"/>
          <a:ea typeface="+mn-ea"/>
          <a:cs typeface="+mn-cs"/>
        </a:defRPr>
      </a:lvl1pPr>
      <a:lvl2pPr marL="997884">
        <a:defRPr>
          <a:latin typeface="+mn-lt"/>
          <a:ea typeface="+mn-ea"/>
          <a:cs typeface="+mn-cs"/>
        </a:defRPr>
      </a:lvl2pPr>
      <a:lvl3pPr marL="1995770">
        <a:defRPr>
          <a:latin typeface="+mn-lt"/>
          <a:ea typeface="+mn-ea"/>
          <a:cs typeface="+mn-cs"/>
        </a:defRPr>
      </a:lvl3pPr>
      <a:lvl4pPr marL="2993654">
        <a:defRPr>
          <a:latin typeface="+mn-lt"/>
          <a:ea typeface="+mn-ea"/>
          <a:cs typeface="+mn-cs"/>
        </a:defRPr>
      </a:lvl4pPr>
      <a:lvl5pPr marL="3991538">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4">
        <a:defRPr>
          <a:latin typeface="+mn-lt"/>
          <a:ea typeface="+mn-ea"/>
          <a:cs typeface="+mn-cs"/>
        </a:defRPr>
      </a:lvl8pPr>
      <a:lvl9pPr marL="79830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hyperlink" Target="https://www.damtp.cam.ac.uk/user/tong/solidstate.html"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43891200" cy="32918400"/>
          </a:xfrm>
          <a:prstGeom prst="rect">
            <a:avLst/>
          </a:prstGeom>
          <a:solidFill>
            <a:srgbClr val="B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0" dirty="0"/>
          </a:p>
        </p:txBody>
      </p:sp>
      <p:sp>
        <p:nvSpPr>
          <p:cNvPr id="43" name="Rectangle 42"/>
          <p:cNvSpPr/>
          <p:nvPr/>
        </p:nvSpPr>
        <p:spPr>
          <a:xfrm>
            <a:off x="216149" y="340232"/>
            <a:ext cx="43434000" cy="310776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0" dirty="0"/>
          </a:p>
        </p:txBody>
      </p:sp>
      <p:sp>
        <p:nvSpPr>
          <p:cNvPr id="2" name="object 2"/>
          <p:cNvSpPr txBox="1">
            <a:spLocks noGrp="1"/>
          </p:cNvSpPr>
          <p:nvPr>
            <p:ph type="title"/>
          </p:nvPr>
        </p:nvSpPr>
        <p:spPr>
          <a:xfrm>
            <a:off x="4386810" y="1079883"/>
            <a:ext cx="34303664" cy="1615827"/>
          </a:xfrm>
          <a:prstGeom prst="rect">
            <a:avLst/>
          </a:prstGeom>
          <a:ln w="38100">
            <a:noFill/>
          </a:ln>
        </p:spPr>
        <p:txBody>
          <a:bodyPr vert="horz" wrap="square" lIns="0" tIns="0" rIns="0" bIns="0" rtlCol="0">
            <a:spAutoFit/>
          </a:bodyPr>
          <a:lstStyle/>
          <a:p>
            <a:pPr algn="ctr"/>
            <a:r>
              <a:rPr lang="en-US" sz="10500" spc="-338" dirty="0">
                <a:solidFill>
                  <a:schemeClr val="tx1">
                    <a:lumMod val="75000"/>
                    <a:lumOff val="25000"/>
                  </a:schemeClr>
                </a:solidFill>
                <a:latin typeface="+mj-lt"/>
              </a:rPr>
              <a:t>Analyzing Physical Phenomena Using a 1-D Tight-Binding Model</a:t>
            </a:r>
            <a:endParaRPr sz="10500" dirty="0">
              <a:latin typeface="+mj-lt"/>
            </a:endParaRPr>
          </a:p>
        </p:txBody>
      </p:sp>
      <p:sp>
        <p:nvSpPr>
          <p:cNvPr id="20" name="TextBox 19"/>
          <p:cNvSpPr txBox="1"/>
          <p:nvPr/>
        </p:nvSpPr>
        <p:spPr>
          <a:xfrm>
            <a:off x="11204292" y="28041600"/>
            <a:ext cx="1415772" cy="549680"/>
          </a:xfrm>
          <a:prstGeom prst="rect">
            <a:avLst/>
          </a:prstGeom>
          <a:noFill/>
        </p:spPr>
        <p:txBody>
          <a:bodyPr vert="eaVert" wrap="square" rtlCol="0">
            <a:spAutoFit/>
          </a:bodyPr>
          <a:lstStyle/>
          <a:p>
            <a:endParaRPr lang="en-US" sz="8000" dirty="0"/>
          </a:p>
        </p:txBody>
      </p:sp>
      <p:sp>
        <p:nvSpPr>
          <p:cNvPr id="144" name="object 2"/>
          <p:cNvSpPr txBox="1">
            <a:spLocks/>
          </p:cNvSpPr>
          <p:nvPr/>
        </p:nvSpPr>
        <p:spPr>
          <a:xfrm>
            <a:off x="12857129" y="2940483"/>
            <a:ext cx="17866117" cy="800219"/>
          </a:xfrm>
          <a:prstGeom prst="rect">
            <a:avLst/>
          </a:prstGeom>
          <a:ln w="38100">
            <a:noFill/>
          </a:ln>
        </p:spPr>
        <p:txBody>
          <a:bodyPr vert="horz" wrap="square" lIns="0" tIns="0" rIns="0" bIns="0" rtlCol="0">
            <a:spAutoFit/>
          </a:bodyPr>
          <a:lstStyle>
            <a:lvl1pPr>
              <a:defRPr sz="6700" b="1">
                <a:solidFill>
                  <a:srgbClr val="414042"/>
                </a:solidFill>
                <a:latin typeface="Arial"/>
                <a:ea typeface="+mj-ea"/>
                <a:cs typeface="Arial"/>
              </a:defRPr>
            </a:lvl1pPr>
          </a:lstStyle>
          <a:p>
            <a:pPr marL="27720" algn="ctr"/>
            <a:r>
              <a:rPr lang="en-US" sz="5200" b="0" spc="-174" dirty="0">
                <a:solidFill>
                  <a:schemeClr val="tx1"/>
                </a:solidFill>
                <a:latin typeface="+mj-lt"/>
              </a:rPr>
              <a:t>Alexander Tumanov, Nagananda </a:t>
            </a:r>
            <a:r>
              <a:rPr lang="en-US" sz="5200" b="0" spc="-174" dirty="0">
                <a:solidFill>
                  <a:schemeClr val="tx1"/>
                </a:solidFill>
              </a:rPr>
              <a:t>Krishnamurthy</a:t>
            </a:r>
            <a:endParaRPr lang="en-US" sz="5200" dirty="0">
              <a:solidFill>
                <a:schemeClr val="tx1"/>
              </a:solidFill>
              <a:latin typeface="+mj-lt"/>
            </a:endParaRPr>
          </a:p>
        </p:txBody>
      </p:sp>
      <p:sp>
        <p:nvSpPr>
          <p:cNvPr id="109" name="object 23">
            <a:extLst>
              <a:ext uri="{FF2B5EF4-FFF2-40B4-BE49-F238E27FC236}">
                <a16:creationId xmlns:a16="http://schemas.microsoft.com/office/drawing/2014/main" id="{690F500D-1FBC-4D5F-80F3-83EAB73DC45C}"/>
              </a:ext>
            </a:extLst>
          </p:cNvPr>
          <p:cNvSpPr txBox="1"/>
          <p:nvPr/>
        </p:nvSpPr>
        <p:spPr>
          <a:xfrm>
            <a:off x="-3862218" y="4070539"/>
            <a:ext cx="12119494" cy="1015663"/>
          </a:xfrm>
          <a:prstGeom prst="rect">
            <a:avLst/>
          </a:prstGeom>
        </p:spPr>
        <p:txBody>
          <a:bodyPr vert="horz" wrap="square" lIns="0" tIns="0" rIns="0" bIns="0" rtlCol="0">
            <a:spAutoFit/>
          </a:bodyPr>
          <a:lstStyle/>
          <a:p>
            <a:pPr marL="27720" algn="ctr"/>
            <a:r>
              <a:rPr lang="en-US" sz="6600" b="1" spc="-10" dirty="0">
                <a:latin typeface="+mj-lt"/>
                <a:cs typeface="Arial"/>
              </a:rPr>
              <a:t>Abstract</a:t>
            </a:r>
            <a:endParaRPr lang="en-US" sz="6600" dirty="0">
              <a:latin typeface="+mj-lt"/>
              <a:cs typeface="Arial"/>
            </a:endParaRPr>
          </a:p>
        </p:txBody>
      </p:sp>
      <p:sp>
        <p:nvSpPr>
          <p:cNvPr id="117" name="TextBox 116">
            <a:extLst>
              <a:ext uri="{FF2B5EF4-FFF2-40B4-BE49-F238E27FC236}">
                <a16:creationId xmlns:a16="http://schemas.microsoft.com/office/drawing/2014/main" id="{6ED6270C-DDA7-4D17-82B3-9D50C1E61F60}"/>
              </a:ext>
            </a:extLst>
          </p:cNvPr>
          <p:cNvSpPr txBox="1"/>
          <p:nvPr/>
        </p:nvSpPr>
        <p:spPr>
          <a:xfrm>
            <a:off x="807250" y="5032247"/>
            <a:ext cx="20265283" cy="4832092"/>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4400" dirty="0"/>
              <a:t>The tight-binding model is a quantum-mechanical framework for understanding the electronic structure of solids by treating electrons as primarily localized to atomic sites, with a small probability of hopping to neighboring atoms. In this project, a one-dimensional tight-binding chain is constructed and numerically solved to investigate how key quantities, such as the density of states (DOS) and local density of states (LDOS), emerge from the underlying band structure. </a:t>
            </a:r>
          </a:p>
          <a:p>
            <a:pPr algn="just"/>
            <a:endParaRPr lang="en-US" sz="4400" dirty="0"/>
          </a:p>
        </p:txBody>
      </p:sp>
      <p:sp>
        <p:nvSpPr>
          <p:cNvPr id="86" name="object 19">
            <a:extLst>
              <a:ext uri="{FF2B5EF4-FFF2-40B4-BE49-F238E27FC236}">
                <a16:creationId xmlns:a16="http://schemas.microsoft.com/office/drawing/2014/main" id="{430AD87A-E0A2-4C3E-BD74-EADBA751CB6F}"/>
              </a:ext>
            </a:extLst>
          </p:cNvPr>
          <p:cNvSpPr/>
          <p:nvPr/>
        </p:nvSpPr>
        <p:spPr>
          <a:xfrm rot="5400000" flipH="1">
            <a:off x="21773102" y="-17779554"/>
            <a:ext cx="286825" cy="43434002"/>
          </a:xfrm>
          <a:custGeom>
            <a:avLst/>
            <a:gdLst/>
            <a:ahLst/>
            <a:cxnLst/>
            <a:rect l="l" t="t" r="r" b="b"/>
            <a:pathLst>
              <a:path h="9561227">
                <a:moveTo>
                  <a:pt x="0" y="0"/>
                </a:moveTo>
                <a:lnTo>
                  <a:pt x="0" y="9561227"/>
                </a:lnTo>
              </a:path>
            </a:pathLst>
          </a:custGeom>
          <a:ln w="127000" cmpd="sng">
            <a:solidFill>
              <a:schemeClr val="tx1"/>
            </a:solidFill>
            <a:prstDash val="solid"/>
          </a:ln>
        </p:spPr>
        <p:txBody>
          <a:bodyPr wrap="square" lIns="0" tIns="0" rIns="0" bIns="0" rtlCol="0">
            <a:spAutoFit/>
          </a:bodyPr>
          <a:lstStyle/>
          <a:p>
            <a:endParaRPr sz="8000" dirty="0"/>
          </a:p>
        </p:txBody>
      </p:sp>
      <p:sp>
        <p:nvSpPr>
          <p:cNvPr id="102" name="object 19">
            <a:extLst>
              <a:ext uri="{FF2B5EF4-FFF2-40B4-BE49-F238E27FC236}">
                <a16:creationId xmlns:a16="http://schemas.microsoft.com/office/drawing/2014/main" id="{D10F9159-6B6F-4400-8638-3658C807C01C}"/>
              </a:ext>
            </a:extLst>
          </p:cNvPr>
          <p:cNvSpPr/>
          <p:nvPr/>
        </p:nvSpPr>
        <p:spPr>
          <a:xfrm rot="16200000" flipH="1">
            <a:off x="10663324" y="-938393"/>
            <a:ext cx="490198" cy="21120050"/>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dirty="0"/>
          </a:p>
        </p:txBody>
      </p:sp>
      <p:sp>
        <p:nvSpPr>
          <p:cNvPr id="104" name="object 19">
            <a:extLst>
              <a:ext uri="{FF2B5EF4-FFF2-40B4-BE49-F238E27FC236}">
                <a16:creationId xmlns:a16="http://schemas.microsoft.com/office/drawing/2014/main" id="{196541B0-387F-4FCA-B56D-A809AF381899}"/>
              </a:ext>
            </a:extLst>
          </p:cNvPr>
          <p:cNvSpPr/>
          <p:nvPr/>
        </p:nvSpPr>
        <p:spPr>
          <a:xfrm rot="16200000" flipH="1">
            <a:off x="10607233" y="10646879"/>
            <a:ext cx="594511" cy="21044707"/>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dirty="0"/>
          </a:p>
        </p:txBody>
      </p:sp>
      <p:sp>
        <p:nvSpPr>
          <p:cNvPr id="108" name="object 19">
            <a:extLst>
              <a:ext uri="{FF2B5EF4-FFF2-40B4-BE49-F238E27FC236}">
                <a16:creationId xmlns:a16="http://schemas.microsoft.com/office/drawing/2014/main" id="{E8223706-A2DA-4C50-992E-4BDC8CBF1026}"/>
              </a:ext>
            </a:extLst>
          </p:cNvPr>
          <p:cNvSpPr/>
          <p:nvPr/>
        </p:nvSpPr>
        <p:spPr>
          <a:xfrm rot="16200000" flipH="1">
            <a:off x="32488177" y="12688246"/>
            <a:ext cx="143478" cy="21635016"/>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dirty="0"/>
          </a:p>
        </p:txBody>
      </p:sp>
      <p:sp>
        <p:nvSpPr>
          <p:cNvPr id="19" name="object 19"/>
          <p:cNvSpPr/>
          <p:nvPr/>
        </p:nvSpPr>
        <p:spPr>
          <a:xfrm flipH="1">
            <a:off x="21480899" y="4296799"/>
            <a:ext cx="45719" cy="25681118"/>
          </a:xfrm>
          <a:custGeom>
            <a:avLst/>
            <a:gdLst/>
            <a:ahLst/>
            <a:cxnLst/>
            <a:rect l="l" t="t" r="r" b="b"/>
            <a:pathLst>
              <a:path h="9561227">
                <a:moveTo>
                  <a:pt x="0" y="0"/>
                </a:moveTo>
                <a:lnTo>
                  <a:pt x="0" y="9561227"/>
                </a:lnTo>
              </a:path>
            </a:pathLst>
          </a:custGeom>
          <a:ln w="127000" cmpd="sng">
            <a:solidFill>
              <a:schemeClr val="tx1"/>
            </a:solidFill>
            <a:prstDash val="solid"/>
          </a:ln>
        </p:spPr>
        <p:txBody>
          <a:bodyPr wrap="square" lIns="0" tIns="0" rIns="0" bIns="0" rtlCol="0">
            <a:spAutoFit/>
          </a:bodyPr>
          <a:lstStyle/>
          <a:p>
            <a:endParaRPr sz="8000" dirty="0"/>
          </a:p>
        </p:txBody>
      </p:sp>
      <p:sp>
        <p:nvSpPr>
          <p:cNvPr id="121" name="object 23">
            <a:extLst>
              <a:ext uri="{FF2B5EF4-FFF2-40B4-BE49-F238E27FC236}">
                <a16:creationId xmlns:a16="http://schemas.microsoft.com/office/drawing/2014/main" id="{B7E68D6C-998D-4C34-8568-0B75DD685CE5}"/>
              </a:ext>
            </a:extLst>
          </p:cNvPr>
          <p:cNvSpPr txBox="1"/>
          <p:nvPr/>
        </p:nvSpPr>
        <p:spPr>
          <a:xfrm>
            <a:off x="-3310153" y="9567032"/>
            <a:ext cx="12119494" cy="1015663"/>
          </a:xfrm>
          <a:prstGeom prst="rect">
            <a:avLst/>
          </a:prstGeom>
        </p:spPr>
        <p:txBody>
          <a:bodyPr vert="horz" wrap="square" lIns="0" tIns="0" rIns="0" bIns="0" rtlCol="0">
            <a:spAutoFit/>
          </a:bodyPr>
          <a:lstStyle/>
          <a:p>
            <a:pPr marL="27720" algn="ctr"/>
            <a:r>
              <a:rPr lang="en-US" sz="6600" b="1" spc="-10" dirty="0">
                <a:latin typeface="+mj-lt"/>
                <a:cs typeface="Arial"/>
              </a:rPr>
              <a:t>Background</a:t>
            </a:r>
            <a:endParaRPr lang="en-US" sz="6600" dirty="0">
              <a:latin typeface="+mj-lt"/>
              <a:cs typeface="Arial"/>
            </a:endParaRPr>
          </a:p>
        </p:txBody>
      </p:sp>
      <p:sp>
        <p:nvSpPr>
          <p:cNvPr id="122" name="TextBox 121">
            <a:extLst>
              <a:ext uri="{FF2B5EF4-FFF2-40B4-BE49-F238E27FC236}">
                <a16:creationId xmlns:a16="http://schemas.microsoft.com/office/drawing/2014/main" id="{E7CED04A-A2EA-4135-83F0-0D020D71ECBE}"/>
              </a:ext>
            </a:extLst>
          </p:cNvPr>
          <p:cNvSpPr txBox="1"/>
          <p:nvPr/>
        </p:nvSpPr>
        <p:spPr>
          <a:xfrm>
            <a:off x="779445" y="10524663"/>
            <a:ext cx="20376621" cy="10248960"/>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just"/>
            <a:r>
              <a:rPr lang="en-US" sz="4400" dirty="0"/>
              <a:t>The tight-binding chain used consisted of some N atoms arranged in a 1-D line. The boundaries of this chain behave as either an open or a periodic boundary condition (OBC and PBC) that correspond to a terminating N-atom chain and an infinite 1-D chain, respectively. The energy eigenvalues of the Hamiltonian are described by the following equation</a:t>
            </a:r>
            <a:r>
              <a:rPr lang="en-US" sz="4400" baseline="30000" dirty="0"/>
              <a:t>[1]</a:t>
            </a:r>
            <a:r>
              <a:rPr lang="en-US" sz="4400" dirty="0"/>
              <a:t>:</a:t>
            </a:r>
          </a:p>
          <a:p>
            <a:pPr algn="just"/>
            <a:endParaRPr lang="en-US" sz="4400" dirty="0"/>
          </a:p>
          <a:p>
            <a:pPr algn="just"/>
            <a:endParaRPr lang="en-US" sz="4400" dirty="0"/>
          </a:p>
          <a:p>
            <a:pPr algn="just"/>
            <a:r>
              <a:rPr lang="en-US" sz="4400" dirty="0"/>
              <a:t>Where E</a:t>
            </a:r>
            <a:r>
              <a:rPr lang="en-US" sz="4400" baseline="-25000" dirty="0"/>
              <a:t>o</a:t>
            </a:r>
            <a:r>
              <a:rPr lang="en-US" sz="4400" dirty="0"/>
              <a:t> is the on-site energy set to 0, while t and a are the hopping energy and lattice constant, respectively, set to t = 1 and a = 1 for this project. This can be visualized as a standing wave oscillating in the range of [E</a:t>
            </a:r>
            <a:r>
              <a:rPr lang="en-US" sz="4400" baseline="-25000" dirty="0"/>
              <a:t>o</a:t>
            </a:r>
            <a:r>
              <a:rPr lang="en-US" sz="4400" dirty="0"/>
              <a:t> – 2t, E</a:t>
            </a:r>
            <a:r>
              <a:rPr lang="en-US" sz="4400" baseline="-25000" dirty="0"/>
              <a:t>o</a:t>
            </a:r>
            <a:r>
              <a:rPr lang="en-US" sz="4400" dirty="0"/>
              <a:t> + 2t], being [-2, 2] in our case.</a:t>
            </a:r>
          </a:p>
          <a:p>
            <a:pPr algn="just"/>
            <a:endParaRPr lang="en-US" sz="4400" dirty="0"/>
          </a:p>
          <a:p>
            <a:pPr algn="just"/>
            <a:r>
              <a:rPr lang="en-US" sz="4400" dirty="0"/>
              <a:t>The DOS reveals how electronic states are distributed across energy, while the LDOS further resolves this picture spatially, showing how the availability of electronic states varies from site to site. These are characteristic distributions routinely studied in condensed matter physics and thus are the focus of this project.</a:t>
            </a:r>
          </a:p>
        </p:txBody>
      </p:sp>
      <p:sp>
        <p:nvSpPr>
          <p:cNvPr id="128" name="object 23">
            <a:extLst>
              <a:ext uri="{FF2B5EF4-FFF2-40B4-BE49-F238E27FC236}">
                <a16:creationId xmlns:a16="http://schemas.microsoft.com/office/drawing/2014/main" id="{DDE866BC-CF32-4A50-94E7-CAFB8BEF1984}"/>
              </a:ext>
            </a:extLst>
          </p:cNvPr>
          <p:cNvSpPr txBox="1"/>
          <p:nvPr/>
        </p:nvSpPr>
        <p:spPr>
          <a:xfrm>
            <a:off x="-3858547" y="20902861"/>
            <a:ext cx="12119494" cy="1015663"/>
          </a:xfrm>
          <a:prstGeom prst="rect">
            <a:avLst/>
          </a:prstGeom>
        </p:spPr>
        <p:txBody>
          <a:bodyPr vert="horz" wrap="square" lIns="0" tIns="0" rIns="0" bIns="0" rtlCol="0">
            <a:spAutoFit/>
          </a:bodyPr>
          <a:lstStyle/>
          <a:p>
            <a:pPr marL="27720" algn="ctr"/>
            <a:r>
              <a:rPr lang="en-US" sz="6600" b="1" spc="-10" dirty="0">
                <a:latin typeface="+mj-lt"/>
                <a:cs typeface="Arial"/>
              </a:rPr>
              <a:t>Methods</a:t>
            </a:r>
            <a:endParaRPr lang="en-US" sz="6600" dirty="0">
              <a:latin typeface="+mj-lt"/>
              <a:cs typeface="Arial"/>
            </a:endParaRPr>
          </a:p>
        </p:txBody>
      </p:sp>
      <p:sp>
        <p:nvSpPr>
          <p:cNvPr id="130" name="TextBox 129">
            <a:extLst>
              <a:ext uri="{FF2B5EF4-FFF2-40B4-BE49-F238E27FC236}">
                <a16:creationId xmlns:a16="http://schemas.microsoft.com/office/drawing/2014/main" id="{3232424F-1136-440F-81D3-92606215597B}"/>
              </a:ext>
            </a:extLst>
          </p:cNvPr>
          <p:cNvSpPr txBox="1"/>
          <p:nvPr/>
        </p:nvSpPr>
        <p:spPr>
          <a:xfrm>
            <a:off x="565111" y="21949408"/>
            <a:ext cx="11101152" cy="1446550"/>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just"/>
            <a:r>
              <a:rPr lang="en-US" sz="4400" dirty="0"/>
              <a:t>Using the energy values of E</a:t>
            </a:r>
            <a:r>
              <a:rPr lang="en-US" sz="4400" baseline="-25000" dirty="0"/>
              <a:t>o </a:t>
            </a:r>
            <a:r>
              <a:rPr lang="en-US" sz="4400" dirty="0"/>
              <a:t>= 0 and t = 1, </a:t>
            </a:r>
          </a:p>
          <a:p>
            <a:pPr algn="just"/>
            <a:r>
              <a:rPr lang="en-US" sz="4400" dirty="0"/>
              <a:t>the following N x N Hamiltonian is constructed:</a:t>
            </a:r>
          </a:p>
        </p:txBody>
      </p:sp>
      <p:sp>
        <p:nvSpPr>
          <p:cNvPr id="131" name="object 23">
            <a:extLst>
              <a:ext uri="{FF2B5EF4-FFF2-40B4-BE49-F238E27FC236}">
                <a16:creationId xmlns:a16="http://schemas.microsoft.com/office/drawing/2014/main" id="{1B886A0C-5C4B-4637-AF1A-B98968DE52EC}"/>
              </a:ext>
            </a:extLst>
          </p:cNvPr>
          <p:cNvSpPr txBox="1"/>
          <p:nvPr/>
        </p:nvSpPr>
        <p:spPr>
          <a:xfrm>
            <a:off x="17449800" y="4428202"/>
            <a:ext cx="12119494" cy="1015663"/>
          </a:xfrm>
          <a:prstGeom prst="rect">
            <a:avLst/>
          </a:prstGeom>
        </p:spPr>
        <p:txBody>
          <a:bodyPr vert="horz" wrap="square" lIns="0" tIns="0" rIns="0" bIns="0" rtlCol="0">
            <a:spAutoFit/>
          </a:bodyPr>
          <a:lstStyle/>
          <a:p>
            <a:pPr marL="27720" algn="ctr"/>
            <a:r>
              <a:rPr lang="en-US" sz="6600" b="1" spc="-10" dirty="0">
                <a:latin typeface="+mj-lt"/>
                <a:cs typeface="Arial"/>
              </a:rPr>
              <a:t>Results</a:t>
            </a:r>
            <a:endParaRPr lang="en-US" sz="6600" dirty="0">
              <a:latin typeface="+mj-lt"/>
              <a:cs typeface="Arial"/>
            </a:endParaRPr>
          </a:p>
        </p:txBody>
      </p:sp>
      <p:sp>
        <p:nvSpPr>
          <p:cNvPr id="138" name="object 23">
            <a:extLst>
              <a:ext uri="{FF2B5EF4-FFF2-40B4-BE49-F238E27FC236}">
                <a16:creationId xmlns:a16="http://schemas.microsoft.com/office/drawing/2014/main" id="{B07DAFA3-B768-466A-BA52-1E0EB2F1B4D3}"/>
              </a:ext>
            </a:extLst>
          </p:cNvPr>
          <p:cNvSpPr txBox="1"/>
          <p:nvPr/>
        </p:nvSpPr>
        <p:spPr>
          <a:xfrm>
            <a:off x="18135600" y="23722531"/>
            <a:ext cx="12119494" cy="1015663"/>
          </a:xfrm>
          <a:prstGeom prst="rect">
            <a:avLst/>
          </a:prstGeom>
        </p:spPr>
        <p:txBody>
          <a:bodyPr vert="horz" wrap="square" lIns="0" tIns="0" rIns="0" bIns="0" rtlCol="0">
            <a:spAutoFit/>
          </a:bodyPr>
          <a:lstStyle/>
          <a:p>
            <a:pPr marL="27720" algn="ctr"/>
            <a:r>
              <a:rPr lang="en-US" sz="6600" b="1" spc="-10" dirty="0">
                <a:latin typeface="+mj-lt"/>
                <a:cs typeface="Arial"/>
              </a:rPr>
              <a:t>Bibliography</a:t>
            </a:r>
            <a:endParaRPr lang="en-US" sz="6600" dirty="0">
              <a:latin typeface="+mj-lt"/>
              <a:cs typeface="Arial"/>
            </a:endParaRPr>
          </a:p>
        </p:txBody>
      </p:sp>
      <p:sp>
        <p:nvSpPr>
          <p:cNvPr id="140" name="TextBox 139">
            <a:extLst>
              <a:ext uri="{FF2B5EF4-FFF2-40B4-BE49-F238E27FC236}">
                <a16:creationId xmlns:a16="http://schemas.microsoft.com/office/drawing/2014/main" id="{5727A03A-D4CB-4288-A1A4-53178FA1EA46}"/>
              </a:ext>
            </a:extLst>
          </p:cNvPr>
          <p:cNvSpPr txBox="1"/>
          <p:nvPr/>
        </p:nvSpPr>
        <p:spPr>
          <a:xfrm>
            <a:off x="23094825" y="24819589"/>
            <a:ext cx="20119707" cy="4401205"/>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just"/>
            <a:r>
              <a:rPr lang="en-US" dirty="0"/>
              <a:t>D. Tong, Lectures on Applications of Quantum Mechanics, Chapter 2: Band Structure, University of Cambridge (2017). Available at: </a:t>
            </a:r>
            <a:r>
              <a:rPr lang="en-US" dirty="0">
                <a:hlinkClick r:id="rId3"/>
              </a:rPr>
              <a:t>https://www.damtp.cam.ac.uk/user/tong/solidstate.html</a:t>
            </a:r>
            <a:endParaRPr lang="en-US" dirty="0"/>
          </a:p>
          <a:p>
            <a:pPr algn="just"/>
            <a:endParaRPr lang="en-US" dirty="0"/>
          </a:p>
          <a:p>
            <a:pPr algn="just"/>
            <a:r>
              <a:rPr lang="en-US" dirty="0"/>
              <a:t>L. Van Hove, "The Occurrence of Singularities in the Elastic Frequency Distribution of a Crystal," </a:t>
            </a:r>
            <a:r>
              <a:rPr lang="en-US" i="1" dirty="0"/>
              <a:t>Phys. Rev.</a:t>
            </a:r>
            <a:r>
              <a:rPr lang="en-US" dirty="0"/>
              <a:t> </a:t>
            </a:r>
            <a:r>
              <a:rPr lang="en-US" b="1" dirty="0"/>
              <a:t>89</a:t>
            </a:r>
            <a:r>
              <a:rPr lang="en-US" dirty="0"/>
              <a:t>, 1189 (1953).</a:t>
            </a:r>
          </a:p>
          <a:p>
            <a:pPr algn="just"/>
            <a:endParaRPr lang="en-US" dirty="0"/>
          </a:p>
          <a:p>
            <a:pPr algn="just"/>
            <a:r>
              <a:rPr lang="en-US" dirty="0"/>
              <a:t>C. R. Harris et al., "Array programming with NumPy," Nature 585, 357–362 (2020).</a:t>
            </a:r>
          </a:p>
        </p:txBody>
      </p:sp>
      <p:sp>
        <p:nvSpPr>
          <p:cNvPr id="229" name="Rectangle 228">
            <a:extLst>
              <a:ext uri="{FF2B5EF4-FFF2-40B4-BE49-F238E27FC236}">
                <a16:creationId xmlns:a16="http://schemas.microsoft.com/office/drawing/2014/main" id="{0169C8D8-6AC3-4B0F-BB1A-F6453CE29355}"/>
              </a:ext>
            </a:extLst>
          </p:cNvPr>
          <p:cNvSpPr/>
          <p:nvPr/>
        </p:nvSpPr>
        <p:spPr>
          <a:xfrm>
            <a:off x="216149" y="30333101"/>
            <a:ext cx="43417366" cy="2299608"/>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8" name="Picture 227" descr="A close up of a sign&#10;&#10;Description automatically generated">
            <a:extLst>
              <a:ext uri="{FF2B5EF4-FFF2-40B4-BE49-F238E27FC236}">
                <a16:creationId xmlns:a16="http://schemas.microsoft.com/office/drawing/2014/main" id="{BA750442-4485-44A8-AD58-C65708C433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05523" y="30419639"/>
            <a:ext cx="11466239" cy="2146810"/>
          </a:xfrm>
          <a:prstGeom prst="rect">
            <a:avLst/>
          </a:prstGeom>
        </p:spPr>
      </p:pic>
      <p:sp>
        <p:nvSpPr>
          <p:cNvPr id="8" name="Rectangle 7">
            <a:extLst>
              <a:ext uri="{FF2B5EF4-FFF2-40B4-BE49-F238E27FC236}">
                <a16:creationId xmlns:a16="http://schemas.microsoft.com/office/drawing/2014/main" id="{54FFF3A9-3570-4492-800E-2C7829D9093D}"/>
              </a:ext>
            </a:extLst>
          </p:cNvPr>
          <p:cNvSpPr/>
          <p:nvPr/>
        </p:nvSpPr>
        <p:spPr>
          <a:xfrm>
            <a:off x="228600" y="228600"/>
            <a:ext cx="43434000" cy="32461200"/>
          </a:xfrm>
          <a:prstGeom prst="rect">
            <a:avLst/>
          </a:prstGeom>
          <a:noFill/>
          <a:ln w="1174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30100921"/>
            <a:ext cx="8501868" cy="2817479"/>
          </a:xfrm>
          <a:prstGeom prst="rect">
            <a:avLst/>
          </a:prstGeom>
        </p:spPr>
      </p:pic>
      <p:pic>
        <p:nvPicPr>
          <p:cNvPr id="234" name="Picture 233" descr="A close up of a sign&#10;&#10;Description automatically generated">
            <a:extLst>
              <a:ext uri="{FF2B5EF4-FFF2-40B4-BE49-F238E27FC236}">
                <a16:creationId xmlns:a16="http://schemas.microsoft.com/office/drawing/2014/main" id="{0CCA85E4-10C9-4901-8C36-B42008D557A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9904605" y="518967"/>
            <a:ext cx="3196917" cy="3196917"/>
          </a:xfrm>
          <a:prstGeom prst="rect">
            <a:avLst/>
          </a:prstGeom>
        </p:spPr>
      </p:pic>
      <p:pic>
        <p:nvPicPr>
          <p:cNvPr id="4" name="Picture 3">
            <a:extLst>
              <a:ext uri="{FF2B5EF4-FFF2-40B4-BE49-F238E27FC236}">
                <a16:creationId xmlns:a16="http://schemas.microsoft.com/office/drawing/2014/main" id="{5336FAD6-9563-1A8E-C4C5-6BDA6E6BC4B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524599" y="13805261"/>
            <a:ext cx="6039201" cy="1262952"/>
          </a:xfrm>
          <a:prstGeom prst="rect">
            <a:avLst/>
          </a:prstGeom>
        </p:spPr>
      </p:pic>
      <p:pic>
        <p:nvPicPr>
          <p:cNvPr id="6" name="Picture 5">
            <a:extLst>
              <a:ext uri="{FF2B5EF4-FFF2-40B4-BE49-F238E27FC236}">
                <a16:creationId xmlns:a16="http://schemas.microsoft.com/office/drawing/2014/main" id="{6A060230-3D52-19DF-9CDF-4482230A8FE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394989" y="23624558"/>
            <a:ext cx="7601366" cy="4700251"/>
          </a:xfrm>
          <a:prstGeom prst="rect">
            <a:avLst/>
          </a:prstGeom>
        </p:spPr>
      </p:pic>
      <p:sp>
        <p:nvSpPr>
          <p:cNvPr id="10" name="TextBox 9">
            <a:extLst>
              <a:ext uri="{FF2B5EF4-FFF2-40B4-BE49-F238E27FC236}">
                <a16:creationId xmlns:a16="http://schemas.microsoft.com/office/drawing/2014/main" id="{98787B2E-ECD2-616F-2090-F75153C1C163}"/>
              </a:ext>
            </a:extLst>
          </p:cNvPr>
          <p:cNvSpPr txBox="1"/>
          <p:nvPr/>
        </p:nvSpPr>
        <p:spPr>
          <a:xfrm>
            <a:off x="11721665" y="21382096"/>
            <a:ext cx="9853985" cy="2123658"/>
          </a:xfrm>
          <a:prstGeom prst="rect">
            <a:avLst/>
          </a:prstGeom>
          <a:noFill/>
        </p:spPr>
        <p:txBody>
          <a:bodyPr wrap="square" rtlCol="0">
            <a:spAutoFit/>
          </a:bodyPr>
          <a:lstStyle/>
          <a:p>
            <a:r>
              <a:rPr lang="en-US" sz="4400" dirty="0"/>
              <a:t>This (OBC) Hamiltonian is then diagonalized using numpy.linalg.eigh()</a:t>
            </a:r>
            <a:r>
              <a:rPr lang="en-US" sz="4400" baseline="30000" dirty="0"/>
              <a:t>[3],</a:t>
            </a:r>
            <a:r>
              <a:rPr lang="en-US" sz="4400" dirty="0"/>
              <a:t> and the (squared) eigenstates are plotted:</a:t>
            </a:r>
          </a:p>
        </p:txBody>
      </p:sp>
      <p:pic>
        <p:nvPicPr>
          <p:cNvPr id="12" name="Picture 11">
            <a:extLst>
              <a:ext uri="{FF2B5EF4-FFF2-40B4-BE49-F238E27FC236}">
                <a16:creationId xmlns:a16="http://schemas.microsoft.com/office/drawing/2014/main" id="{7B3B68C9-A4FD-CDF6-0BD3-3DDAE250FB21}"/>
              </a:ext>
            </a:extLst>
          </p:cNvPr>
          <p:cNvPicPr>
            <a:picLocks noChangeAspect="1"/>
          </p:cNvPicPr>
          <p:nvPr/>
        </p:nvPicPr>
        <p:blipFill>
          <a:blip r:embed="rId9"/>
          <a:stretch>
            <a:fillRect/>
          </a:stretch>
        </p:blipFill>
        <p:spPr>
          <a:xfrm>
            <a:off x="11894863" y="23505754"/>
            <a:ext cx="8712046" cy="4856926"/>
          </a:xfrm>
          <a:prstGeom prst="rect">
            <a:avLst/>
          </a:prstGeom>
        </p:spPr>
      </p:pic>
      <p:sp>
        <p:nvSpPr>
          <p:cNvPr id="13" name="TextBox 12">
            <a:extLst>
              <a:ext uri="{FF2B5EF4-FFF2-40B4-BE49-F238E27FC236}">
                <a16:creationId xmlns:a16="http://schemas.microsoft.com/office/drawing/2014/main" id="{088DD1A8-6D8A-8807-A3D2-0A8722383152}"/>
              </a:ext>
            </a:extLst>
          </p:cNvPr>
          <p:cNvSpPr txBox="1"/>
          <p:nvPr/>
        </p:nvSpPr>
        <p:spPr>
          <a:xfrm>
            <a:off x="807250" y="28591280"/>
            <a:ext cx="19538150" cy="1446550"/>
          </a:xfrm>
          <a:prstGeom prst="rect">
            <a:avLst/>
          </a:prstGeom>
          <a:noFill/>
        </p:spPr>
        <p:txBody>
          <a:bodyPr wrap="square" rtlCol="0">
            <a:spAutoFit/>
          </a:bodyPr>
          <a:lstStyle/>
          <a:p>
            <a:pPr algn="ctr"/>
            <a:r>
              <a:rPr lang="en-US" sz="4400" dirty="0"/>
              <a:t>These eigenstates and eigenvalues are then used to plot DOS and LDOS graphs to analyze our resulting band structure. </a:t>
            </a:r>
          </a:p>
        </p:txBody>
      </p:sp>
      <p:pic>
        <p:nvPicPr>
          <p:cNvPr id="15" name="Picture 14">
            <a:extLst>
              <a:ext uri="{FF2B5EF4-FFF2-40B4-BE49-F238E27FC236}">
                <a16:creationId xmlns:a16="http://schemas.microsoft.com/office/drawing/2014/main" id="{0C33CDA9-8993-45CF-CA55-522FDF214786}"/>
              </a:ext>
            </a:extLst>
          </p:cNvPr>
          <p:cNvPicPr>
            <a:picLocks noChangeAspect="1"/>
          </p:cNvPicPr>
          <p:nvPr/>
        </p:nvPicPr>
        <p:blipFill>
          <a:blip r:embed="rId10"/>
          <a:stretch>
            <a:fillRect/>
          </a:stretch>
        </p:blipFill>
        <p:spPr>
          <a:xfrm>
            <a:off x="1021868" y="25416202"/>
            <a:ext cx="2219102" cy="1156433"/>
          </a:xfrm>
          <a:prstGeom prst="rect">
            <a:avLst/>
          </a:prstGeom>
        </p:spPr>
      </p:pic>
      <p:pic>
        <p:nvPicPr>
          <p:cNvPr id="17" name="Picture 16">
            <a:extLst>
              <a:ext uri="{FF2B5EF4-FFF2-40B4-BE49-F238E27FC236}">
                <a16:creationId xmlns:a16="http://schemas.microsoft.com/office/drawing/2014/main" id="{ABBB9BBA-8EC4-55B4-548E-555194E8001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3186004" y="6356093"/>
            <a:ext cx="9502738" cy="3846892"/>
          </a:xfrm>
          <a:prstGeom prst="rect">
            <a:avLst/>
          </a:prstGeom>
        </p:spPr>
      </p:pic>
      <p:pic>
        <p:nvPicPr>
          <p:cNvPr id="21" name="Picture 20">
            <a:extLst>
              <a:ext uri="{FF2B5EF4-FFF2-40B4-BE49-F238E27FC236}">
                <a16:creationId xmlns:a16="http://schemas.microsoft.com/office/drawing/2014/main" id="{22004EC6-78E2-303E-8F35-5EA01E0CBD9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2475122" y="13522895"/>
            <a:ext cx="10749824" cy="8145486"/>
          </a:xfrm>
          <a:prstGeom prst="rect">
            <a:avLst/>
          </a:prstGeom>
        </p:spPr>
      </p:pic>
      <p:pic>
        <p:nvPicPr>
          <p:cNvPr id="23" name="Picture 22">
            <a:extLst>
              <a:ext uri="{FF2B5EF4-FFF2-40B4-BE49-F238E27FC236}">
                <a16:creationId xmlns:a16="http://schemas.microsoft.com/office/drawing/2014/main" id="{9B3394CF-E605-E2A6-22BE-90A4A6FB6FE8}"/>
              </a:ext>
            </a:extLst>
          </p:cNvPr>
          <p:cNvPicPr>
            <a:picLocks noChangeAspect="1"/>
          </p:cNvPicPr>
          <p:nvPr/>
        </p:nvPicPr>
        <p:blipFill>
          <a:blip r:embed="rId13">
            <a:extLst>
              <a:ext uri="{28A0092B-C50C-407E-A947-70E740481C1C}">
                <a14:useLocalDpi xmlns:a14="http://schemas.microsoft.com/office/drawing/2010/main" val="0"/>
              </a:ext>
            </a:extLst>
          </a:blip>
          <a:srcRect r="5641"/>
          <a:stretch>
            <a:fillRect/>
          </a:stretch>
        </p:blipFill>
        <p:spPr>
          <a:xfrm>
            <a:off x="22342438" y="5574842"/>
            <a:ext cx="10230902" cy="7817076"/>
          </a:xfrm>
          <a:prstGeom prst="rect">
            <a:avLst/>
          </a:prstGeom>
        </p:spPr>
      </p:pic>
      <p:sp>
        <p:nvSpPr>
          <p:cNvPr id="24" name="TextBox 23">
            <a:extLst>
              <a:ext uri="{FF2B5EF4-FFF2-40B4-BE49-F238E27FC236}">
                <a16:creationId xmlns:a16="http://schemas.microsoft.com/office/drawing/2014/main" id="{D584D274-6DEE-1B82-64A6-CE76B8551499}"/>
              </a:ext>
            </a:extLst>
          </p:cNvPr>
          <p:cNvSpPr txBox="1"/>
          <p:nvPr/>
        </p:nvSpPr>
        <p:spPr>
          <a:xfrm>
            <a:off x="33745927" y="4731456"/>
            <a:ext cx="8855942" cy="1446550"/>
          </a:xfrm>
          <a:prstGeom prst="rect">
            <a:avLst/>
          </a:prstGeom>
          <a:noFill/>
        </p:spPr>
        <p:txBody>
          <a:bodyPr wrap="square" rtlCol="0">
            <a:spAutoFit/>
          </a:bodyPr>
          <a:lstStyle/>
          <a:p>
            <a:pPr algn="ctr"/>
            <a:r>
              <a:rPr lang="en-US" sz="4400" dirty="0"/>
              <a:t>Following an approximation of the delta function-based definitions:</a:t>
            </a:r>
          </a:p>
        </p:txBody>
      </p:sp>
      <p:sp>
        <p:nvSpPr>
          <p:cNvPr id="25" name="TextBox 24">
            <a:extLst>
              <a:ext uri="{FF2B5EF4-FFF2-40B4-BE49-F238E27FC236}">
                <a16:creationId xmlns:a16="http://schemas.microsoft.com/office/drawing/2014/main" id="{4BB793A4-7455-B08E-82DE-0639CA4B2AD2}"/>
              </a:ext>
            </a:extLst>
          </p:cNvPr>
          <p:cNvSpPr txBox="1"/>
          <p:nvPr/>
        </p:nvSpPr>
        <p:spPr>
          <a:xfrm>
            <a:off x="33621620" y="10388897"/>
            <a:ext cx="9842724" cy="5509200"/>
          </a:xfrm>
          <a:prstGeom prst="rect">
            <a:avLst/>
          </a:prstGeom>
          <a:noFill/>
        </p:spPr>
        <p:txBody>
          <a:bodyPr wrap="square" rtlCol="0">
            <a:spAutoFit/>
          </a:bodyPr>
          <a:lstStyle/>
          <a:p>
            <a:pPr algn="ctr"/>
            <a:r>
              <a:rPr lang="en-US" sz="4400" dirty="0"/>
              <a:t>The (OBC) band structure exhibits the characteristic van Hove singularities</a:t>
            </a:r>
            <a:r>
              <a:rPr lang="en-US" sz="4400" baseline="30000" dirty="0"/>
              <a:t>[2]</a:t>
            </a:r>
            <a:r>
              <a:rPr lang="en-US" sz="4400" dirty="0"/>
              <a:t> at the band edges, expected for a 1D system, and decays to zero beyond the energy range defined by the earlier eigenvalue equation ([-2, 2]). A spatially resolved LDOS revealing the transition from edge to bulk behavior is shown below.</a:t>
            </a:r>
          </a:p>
        </p:txBody>
      </p:sp>
      <p:pic>
        <p:nvPicPr>
          <p:cNvPr id="27" name="Picture 26">
            <a:extLst>
              <a:ext uri="{FF2B5EF4-FFF2-40B4-BE49-F238E27FC236}">
                <a16:creationId xmlns:a16="http://schemas.microsoft.com/office/drawing/2014/main" id="{8027027A-F75C-D6B1-23CB-A2098D4533AD}"/>
              </a:ext>
            </a:extLst>
          </p:cNvPr>
          <p:cNvPicPr>
            <a:picLocks noChangeAspect="1"/>
          </p:cNvPicPr>
          <p:nvPr/>
        </p:nvPicPr>
        <p:blipFill>
          <a:blip r:embed="rId14"/>
          <a:stretch>
            <a:fillRect/>
          </a:stretch>
        </p:blipFill>
        <p:spPr>
          <a:xfrm>
            <a:off x="33598784" y="16014347"/>
            <a:ext cx="9502738" cy="7039528"/>
          </a:xfrm>
          <a:prstGeom prst="rect">
            <a:avLst/>
          </a:prstGeom>
        </p:spPr>
      </p:pic>
      <p:sp>
        <p:nvSpPr>
          <p:cNvPr id="28" name="TextBox 27">
            <a:extLst>
              <a:ext uri="{FF2B5EF4-FFF2-40B4-BE49-F238E27FC236}">
                <a16:creationId xmlns:a16="http://schemas.microsoft.com/office/drawing/2014/main" id="{96CF0298-FC10-5F76-0FA7-55B281A07181}"/>
              </a:ext>
            </a:extLst>
          </p:cNvPr>
          <p:cNvSpPr txBox="1"/>
          <p:nvPr/>
        </p:nvSpPr>
        <p:spPr>
          <a:xfrm>
            <a:off x="22053603" y="25006087"/>
            <a:ext cx="1169342" cy="830997"/>
          </a:xfrm>
          <a:prstGeom prst="rect">
            <a:avLst/>
          </a:prstGeom>
          <a:noFill/>
        </p:spPr>
        <p:txBody>
          <a:bodyPr wrap="square" rtlCol="0">
            <a:spAutoFit/>
          </a:bodyPr>
          <a:lstStyle/>
          <a:p>
            <a:r>
              <a:rPr lang="en-US" sz="4800" dirty="0"/>
              <a:t>[1]</a:t>
            </a:r>
          </a:p>
        </p:txBody>
      </p:sp>
      <p:sp>
        <p:nvSpPr>
          <p:cNvPr id="29" name="TextBox 28">
            <a:extLst>
              <a:ext uri="{FF2B5EF4-FFF2-40B4-BE49-F238E27FC236}">
                <a16:creationId xmlns:a16="http://schemas.microsoft.com/office/drawing/2014/main" id="{6A4558DB-8B92-F644-0262-D81381681679}"/>
              </a:ext>
            </a:extLst>
          </p:cNvPr>
          <p:cNvSpPr txBox="1"/>
          <p:nvPr/>
        </p:nvSpPr>
        <p:spPr>
          <a:xfrm>
            <a:off x="22053603" y="26621170"/>
            <a:ext cx="1169342" cy="830997"/>
          </a:xfrm>
          <a:prstGeom prst="rect">
            <a:avLst/>
          </a:prstGeom>
          <a:noFill/>
        </p:spPr>
        <p:txBody>
          <a:bodyPr wrap="square" rtlCol="0">
            <a:spAutoFit/>
          </a:bodyPr>
          <a:lstStyle/>
          <a:p>
            <a:r>
              <a:rPr lang="en-US" sz="4800" dirty="0"/>
              <a:t>[2]</a:t>
            </a:r>
          </a:p>
        </p:txBody>
      </p:sp>
      <p:sp>
        <p:nvSpPr>
          <p:cNvPr id="32" name="TextBox 31">
            <a:extLst>
              <a:ext uri="{FF2B5EF4-FFF2-40B4-BE49-F238E27FC236}">
                <a16:creationId xmlns:a16="http://schemas.microsoft.com/office/drawing/2014/main" id="{EC721F5D-6473-8567-C165-7E88CB223090}"/>
              </a:ext>
            </a:extLst>
          </p:cNvPr>
          <p:cNvSpPr txBox="1"/>
          <p:nvPr/>
        </p:nvSpPr>
        <p:spPr>
          <a:xfrm>
            <a:off x="22075310" y="28389797"/>
            <a:ext cx="1169342" cy="830997"/>
          </a:xfrm>
          <a:prstGeom prst="rect">
            <a:avLst/>
          </a:prstGeom>
          <a:noFill/>
        </p:spPr>
        <p:txBody>
          <a:bodyPr wrap="square" rtlCol="0">
            <a:spAutoFit/>
          </a:bodyPr>
          <a:lstStyle/>
          <a:p>
            <a:r>
              <a:rPr lang="en-US" sz="4800" dirty="0"/>
              <a:t>[3]</a:t>
            </a:r>
          </a:p>
        </p:txBody>
      </p:sp>
      <p:sp>
        <p:nvSpPr>
          <p:cNvPr id="33" name="TextBox 32">
            <a:extLst>
              <a:ext uri="{FF2B5EF4-FFF2-40B4-BE49-F238E27FC236}">
                <a16:creationId xmlns:a16="http://schemas.microsoft.com/office/drawing/2014/main" id="{48274B8F-AFAF-1545-4CE1-45C021F658BC}"/>
              </a:ext>
            </a:extLst>
          </p:cNvPr>
          <p:cNvSpPr txBox="1"/>
          <p:nvPr/>
        </p:nvSpPr>
        <p:spPr>
          <a:xfrm>
            <a:off x="21682915" y="21679309"/>
            <a:ext cx="12073775" cy="1200329"/>
          </a:xfrm>
          <a:prstGeom prst="rect">
            <a:avLst/>
          </a:prstGeom>
          <a:noFill/>
        </p:spPr>
        <p:txBody>
          <a:bodyPr wrap="square" rtlCol="0">
            <a:spAutoFit/>
          </a:bodyPr>
          <a:lstStyle/>
          <a:p>
            <a:pPr algn="ctr"/>
            <a:r>
              <a:rPr lang="en-US" sz="3600" dirty="0"/>
              <a:t>(Note that for a PBC Hamiltonian, the LDOS would instead be degenerate for all sites, as each site would be indistinguishable.)</a:t>
            </a:r>
          </a:p>
        </p:txBody>
      </p:sp>
    </p:spTree>
    <p:extLst>
      <p:ext uri="{BB962C8B-B14F-4D97-AF65-F5344CB8AC3E}">
        <p14:creationId xmlns:p14="http://schemas.microsoft.com/office/powerpoint/2010/main" val="1398524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31F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12038</TotalTime>
  <Words>578</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Analyzing Physical Phenomena Using a 1-D Tight-Binding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Research Study Presenter name, Associates and Collaborators</dc:title>
  <dc:creator>Nicole Gou</dc:creator>
  <cp:lastModifiedBy>Tumanov, Alex</cp:lastModifiedBy>
  <cp:revision>372</cp:revision>
  <cp:lastPrinted>2019-10-10T20:03:49Z</cp:lastPrinted>
  <dcterms:created xsi:type="dcterms:W3CDTF">2013-07-30T10:24:34Z</dcterms:created>
  <dcterms:modified xsi:type="dcterms:W3CDTF">2026-04-13T03:14:18Z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2013-07-30T00:00:00Z</vt:filetime>
  </property>
  <property fmtid="{D5CDD505-2E9C-101B-9397-08002B2CF9AE}" pid="3" name="LastSaved">
    <vt:filetime>2013-07-30T00:00:00Z</vt:filetime>
  </property>
</Properties>
</file>